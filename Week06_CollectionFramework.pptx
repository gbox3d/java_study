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A5E9"/>
                </a:solidFill>
                <a:latin typeface="Georgia"/>
              </a:defRPr>
            </a:pPr>
            <a:r>
              <a:t>WEEK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컬렉션 프레임워크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CADCFC"/>
                </a:solidFill>
                <a:latin typeface="Calibri"/>
              </a:defRPr>
            </a:pPr>
            <a:r>
              <a:t>(Collection Framework)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Georgia"/>
              </a:defRPr>
            </a:pPr>
            <a:r>
              <a:t>컬렉션 프레임워크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CADCFC"/>
                </a:solidFill>
                <a:latin typeface="Calibri"/>
              </a:defRPr>
            </a:pPr>
            <a:r>
              <a:t>List, Set, Map의 특성과 사용법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5A82"/>
                </a:solidFill>
                <a:latin typeface="Georgia"/>
              </a:defRPr>
            </a:pPr>
            <a:r>
              <a:t>List / Set / Map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List (리스트): 순서 있음, 중복 허용, 인덱스 접근 가능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• ArrayList: 동적 배열, 빠른 조회, 느린 삽입/삭제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• LinkedList: 양방향 링크드 리스트, 빠른 삽입/삭제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Set (집합): 순서 없음, 중복 불가, 유일한 원소만 저장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• HashSet: 해시 기반, 빠른 조회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• TreeSet: 정렬된 순서, 범위 검색 가능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Map (맵): 키-값 쌍, 키는 유일, 값은 중복 가능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• HashMap: 해시 기반, 빠른 검색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• TreeMap: 키 순서로 정렬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5A82"/>
                </a:solidFill>
                <a:latin typeface="Georgia"/>
              </a:defRPr>
            </a:pPr>
            <a:r>
              <a:t>제네릭스 (Generics) 복습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타입 안정성: 컴파일 시점에 타입 검사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ArrayList&lt;String&gt; list = new ArrayList&lt;&gt;();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list.add("java");  // String만 추가 가능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String s = list.get(0);  // 형변환 불필요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제네릭 메서드 예제: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public static &lt;T&gt; void printList(List&lt;T&gt; list) { ... }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와일드카드: List&lt;?&gt;, List&lt;? extends Number&gt;, List&lt;? super Integer&gt;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5A82"/>
                </a:solidFill>
                <a:latin typeface="Georgia"/>
              </a:defRPr>
            </a:pPr>
            <a:r>
              <a:t>예제 01 - ArrayList 기본 연산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02920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ArrayList&lt;String&gt; list = new ArrayList&lt;&gt;();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list.add("Java");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list.add("Python");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list.add("C++");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System.out.println(list.get(0));  // Java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System.out.println(list.contains("Python"));  // true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list.remove(1);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System.out.println(list.size());  //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0972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add/remove/get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contains로 존재 확인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size로 크기 조회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5A82"/>
                </a:solidFill>
                <a:latin typeface="Georgia"/>
              </a:defRPr>
            </a:pPr>
            <a:r>
              <a:t>예제 02 - HashMap 키-값 연산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02920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HashMap&lt;String, String&gt; map = new HashMap&lt;&gt;();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map.put("apple", "사과");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map.put("banana", "바나나");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map.put("cherry", "체리");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System.out.println(map.get("apple"));  // 사과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for (String key : map.keySet())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System.out.println(key + ": " + map.get(key));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0972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put으로 키-값 저장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get으로 값 조회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keySet으로 모든 키 순회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5A82"/>
                </a:solidFill>
                <a:latin typeface="Georgia"/>
              </a:defRPr>
            </a:pPr>
            <a:r>
              <a:t>예제 03 - Comparator로 정렬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02920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class Student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int id; String name; int score;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List&lt;Student&gt; students = new ArrayList&lt;&gt;();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점수 내림차순, 같으면 ID 오름차순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students.sort(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Comparator.comparingInt(Student::getScore).reversed()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.thenComparingInt(Student::getId)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0972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Comparator.comparing...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메서드 참조 사용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reversed로 역순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thenComparing으로 차순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5A82"/>
                </a:solidFill>
                <a:latin typeface="Georgia"/>
              </a:defRPr>
            </a:pPr>
            <a:r>
              <a:t>반복 방법들 (Iteration)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for-each 루프: for (String s : list) { ... }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Iterator: Iterator&lt;T&gt; it = list.iterator();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while (it.hasNext()) { T element = it.next(); }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forEach 메서드: list.forEach(s -&gt; System.out.println(s));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스트림: list.stream().forEach(System.out::println);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인덱스 기반: for (int i = 0; i &lt; list.size(); i++)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EA5E9"/>
                </a:solidFill>
                <a:latin typeface="Georgia"/>
              </a:defRPr>
            </a:pPr>
            <a:r>
              <a:t>실습 1: 단어 사전 만들기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HashMap&lt;String, String&gt;을 사용해 한-영 단어 사전 작성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put으로 10개 단어 쌍 추가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get으로 특정 단어 검색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keySet 순회로 모든 단어 출력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containsKey로 단어 존재 확인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java WordDictionary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# HashMap 조작 결과 확인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EA5E9"/>
                </a:solidFill>
                <a:latin typeface="Georgia"/>
              </a:defRPr>
            </a:pPr>
            <a:r>
              <a:t>실습 2: 학생 성적 정렬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Student 클래스 설계 (id, name, score)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ArrayList&lt;Student&gt;에 5명의 학생 추가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점수 내림차순 정렬 (같으면 ID 오름차순)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정렬 후 결과 출력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java StudentSort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# 정렬 기준에 따른 출력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EA5E9"/>
                </a:solidFill>
                <a:latin typeface="Georgia"/>
              </a:defRPr>
            </a:pPr>
            <a: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ADCFC"/>
                </a:solidFill>
                <a:latin typeface="Calibri"/>
              </a:defRPr>
            </a:pPr>
            <a:r>
              <a:t>Week 06 — 다음 질문에 답해 보세요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15568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Q1. `List&lt;String&gt;`에서 `String`은 어떤 역할을 하는가?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Q2. `names.remove("Bob")` 이후 리스트 상태는 어떻게 바뀌는가?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Q3. `Map`에서 키(key)와 값(value)은 각각 어떤 용도로 쓰이는가?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Q4. `thenComparingInt()`는 왜 필요한가? 없으면 어떤 문제가 생기는가?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115568"/>
            <a:ext cx="27432" cy="3474720"/>
          </a:xfrm>
          <a:prstGeom prst="rect">
            <a:avLst/>
          </a:prstGeom>
          <a:solidFill>
            <a:srgbClr val="3B5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80760" y="1115568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Georgia"/>
              </a:defRPr>
            </a:pPr>
            <a:r>
              <a:t>추가 실습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1499616"/>
            <a:ext cx="2834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CADCFC"/>
                </a:solidFill>
                <a:latin typeface="Calibri"/>
              </a:defRPr>
            </a:pPr>
            <a:r>
              <a:t>① `List&lt;Integer&gt;`로 점수 목록을 관리하고 합계/평균 출력하기</a:t>
            </a:r>
          </a:p>
          <a:p>
            <a:pPr>
              <a:spcAft>
                <a:spcPts val="800"/>
              </a:spcAft>
              <a:defRPr sz="1200">
                <a:solidFill>
                  <a:srgbClr val="CADCFC"/>
                </a:solidFill>
                <a:latin typeface="Calibri"/>
              </a:defRPr>
            </a:pPr>
            <a:r>
              <a:t>② `Map&lt;String, Integer&gt;`로 과목별 점수를 저장하고 조회하기</a:t>
            </a:r>
          </a:p>
          <a:p>
            <a:pPr>
              <a:spcAft>
                <a:spcPts val="800"/>
              </a:spcAft>
              <a:defRPr sz="1200">
                <a:solidFill>
                  <a:srgbClr val="CADCFC"/>
                </a:solidFill>
                <a:latin typeface="Calibri"/>
              </a:defRPr>
            </a:pPr>
            <a:r>
              <a:t>③ 학생 이름 기준 알파벳 정렬을 추가하기</a:t>
            </a:r>
          </a:p>
          <a:p>
            <a:pPr>
              <a:spcAft>
                <a:spcPts val="800"/>
              </a:spcAft>
              <a:defRPr sz="1200">
                <a:solidFill>
                  <a:srgbClr val="CADCFC"/>
                </a:solidFill>
                <a:latin typeface="Calibri"/>
              </a:defRPr>
            </a:pPr>
            <a:r>
              <a:t>④ 점수 기준 상위 N명을 추출하는 로직 작성하기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t>Week 06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List: 순서 있는 컬렉션, ArrayList/LinkedList는 내부 구조 이해 중요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Set: 중복 없는 유일한 원소들, 순서는 보장 안 함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Map: 키-값 쌍으로 데이터 관리, 키로 빠른 검색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제네릭스로 타입 안정성 확보, 형변환 제거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Comparator로 복합적인 정렬 조건 처리 가능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Iterator와 forEach로 효율적인 순회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