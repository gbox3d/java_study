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EA5E9"/>
                </a:solidFill>
                <a:latin typeface="Georgia"/>
              </a:defRPr>
            </a:pPr>
            <a:r>
              <a:t>WEEK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Georgia"/>
              </a:defRPr>
            </a:pPr>
            <a:r>
              <a:t>객체지향 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(Object-Oriented Programming Part I)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클래스와 객체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설계도와 실제 물건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클래스의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필드(Field): 객체의 속성/상태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메서드(Method): 객체의 행동/기능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생성자(Constructor): 객체 초기화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접근 제어자(Access Modifier): public, private, protected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1: Student 클래스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Student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필드 (Fields)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String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int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생성자 (Constructor)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Student(String name, int age)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this.name = name;      // this: 현재 객체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this.age =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메서드 (Method)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printInfo()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System.out.println(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"Name: " + name + ", Age: " + age);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사용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Student s = new Student("Alice", 20);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s.printInfo(); // Name: Alice, Age: 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private: 클래스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내부에서만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접근 가능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this: 인스턴스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변수 지칭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생성자 오버로딩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다양한 초기화 방식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2: 생성자 오버로딩과 this()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Student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String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int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생성자 1: 두 개의 매개변수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Student(String name, int age)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this.name =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this.age =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생성자 2: 이름만 받음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Student(String name)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this(name, 0);  // this(): 다른 생성자 호출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생성자 3: 기본 생성자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Student()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this("Unknown", 0);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@Override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String toString()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return name + " (" + age + ")";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this(): 다른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생성자 호출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@Override: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 toString() 재정의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7315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Georgia"/>
              </a:defRPr>
            </a:pPr>
            <a:r>
              <a:t>캡슐화 (Encapsulation)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92608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>
                <a:solidFill>
                  <a:srgbClr val="CADCFC"/>
                </a:solidFill>
                <a:latin typeface="Calibri"/>
              </a:defRPr>
            </a:pPr>
            <a:r>
              <a:t>private 필드와 public 메서드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예제 3: BankAccount - 캡슐화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BankAccount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double balance;  // private: 숨김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BankAccount(double initialBalance)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if (initialBalance &gt; 0)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this.balance = initialBalance;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Getter (읽기)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double getBalance()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return balance;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Setter (쓰기) - 검증 포함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deposit(double amount)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if (amount &gt; 0)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balance += amount;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withdraw(double amount)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if (amount &gt; 0 &amp;&amp; amount &lt;= balance)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balance -= amount;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BankAccount acc = new BankAccount(1000);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acc.deposit(500);      // 1500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acc.withdraw(200);     // 1300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double bal = acc.getBalance(); // 1300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balance는 private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메서드를 통해서만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접근 가능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검증 로직 포함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65A82"/>
                </a:solidFill>
                <a:latin typeface="Georgia"/>
              </a:defRPr>
            </a:pPr>
            <a:r>
              <a:t>정적 멤버 (Static Member)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static 필드: 클래스에 속하는 공유 데이터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int count; vs static int count;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static 메서드: 객체 생성 없이 호출 가능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  - Math.sqrt(16); // 객체 필요 없음</a:t>
            </a:r>
          </a:p>
          <a:p>
            <a:pPr algn="l">
              <a:spcAft>
                <a:spcPts val="800"/>
              </a:spcAft>
              <a:defRPr sz="1600">
                <a:solidFill>
                  <a:srgbClr val="1E293B"/>
                </a:solidFill>
                <a:latin typeface="Calibri"/>
              </a:defRPr>
            </a:pPr>
            <a:r>
              <a:t>• static 블록: 클래스 로딩 시 한 번만 실행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65A82"/>
                </a:solidFill>
                <a:latin typeface="Georgia"/>
              </a:defRPr>
            </a:pPr>
            <a:r>
              <a:t>Getter/Setter 패턴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5029200" cy="36576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43000"/>
            <a:ext cx="47548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public class Person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String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private int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Getter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String getName()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return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int getAge()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return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// Setter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setName(String name)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this.name = name;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public void setAge(int age) {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if (age &gt;= 0 &amp;&amp; age &lt;= 150)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        this.age = age;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    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}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// 사용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Person p = new Person();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p.setName("Alice");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p.setAge(25);</a:t>
            </a:r>
          </a:p>
          <a:p>
            <a:pPr algn="l">
              <a:spcAft>
                <a:spcPts val="100"/>
              </a:spcAft>
              <a:defRPr sz="1100">
                <a:solidFill>
                  <a:srgbClr val="E2E8F0"/>
                </a:solidFill>
                <a:latin typeface="Consolas"/>
              </a:defRPr>
            </a:pPr>
            <a:r>
              <a:t>System.out.println(p.getName()); // Alice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77840" y="1097280"/>
            <a:ext cx="3200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getter: 읽기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setter: 쓰기</a:t>
            </a:r>
          </a:p>
          <a:p>
            <a:pPr algn="l">
              <a:spcAft>
                <a:spcPts val="600"/>
              </a:spcAft>
              <a:defRPr sz="1300">
                <a:solidFill>
                  <a:srgbClr val="475569"/>
                </a:solidFill>
                <a:latin typeface="Calibri"/>
              </a:defRPr>
            </a:pPr>
            <a:r>
              <a:t>(검증 포함)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EA5E9"/>
                </a:solidFill>
                <a:latin typeface="Georgia"/>
              </a:defRPr>
            </a:pPr>
            <a:r>
              <a:t>실습 (Practice)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1. Person 클래스 작성 (name, age 필드)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여러 생성자 작성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toString() 구현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2. Book 클래스 (title, author, price)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private 필드로 캡슐화</a:t>
            </a:r>
          </a:p>
          <a:p>
            <a:pPr>
              <a:spcAft>
                <a:spcPts val="600"/>
              </a:spcAft>
              <a:defRPr sz="1500">
                <a:solidFill>
                  <a:srgbClr val="1E293B"/>
                </a:solidFill>
                <a:latin typeface="Calibri"/>
              </a:defRPr>
            </a:pPr>
            <a:r>
              <a:t>   - getter/setter 메서드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566160"/>
            <a:ext cx="8229600" cy="109728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javac Student.java</a:t>
            </a:r>
          </a:p>
          <a:p>
            <a:pPr>
              <a:spcAft>
                <a:spcPts val="200"/>
              </a:spcAft>
              <a:defRPr sz="1200">
                <a:solidFill>
                  <a:srgbClr val="E2E8F0"/>
                </a:solidFill>
                <a:latin typeface="Consolas"/>
              </a:defRPr>
            </a:pPr>
            <a:r>
              <a:t>$ java -cp . StudentTest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18288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EA5E9"/>
                </a:solidFill>
                <a:latin typeface="Georgia"/>
              </a:defRPr>
            </a:pPr>
            <a: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13232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CADCFC"/>
                </a:solidFill>
                <a:latin typeface="Calibri"/>
              </a:defRPr>
            </a:pPr>
            <a:r>
              <a:t>Week 03 — 다음 질문에 답해 보세요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Q1. 객체를 만들 때 `new`가 하는 일은 무엇인가?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Q2. `this.name = name;`에서 왼쪽과 오른쪽 `name`은 무엇이 다른가?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Q3. `this()`는 언제 사용하는가? 어떤 제약이 있는가?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Calibri"/>
              </a:defRPr>
            </a:pPr>
            <a:r>
              <a:t>Q4. 왜 `balance`를 `private`으로 두는 것이 좋은가?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1115568"/>
            <a:ext cx="27432" cy="3474720"/>
          </a:xfrm>
          <a:prstGeom prst="rect">
            <a:avLst/>
          </a:prstGeom>
          <a:solidFill>
            <a:srgbClr val="3B52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115568"/>
            <a:ext cx="2834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0EA5E9"/>
                </a:solidFill>
                <a:latin typeface="Georgia"/>
              </a:defRPr>
            </a:pPr>
            <a:r>
              <a:t>추가 실습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499616"/>
            <a:ext cx="2834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① `Student` 클래스에 학번(studentId) 필드를 추가하기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② ex02에 세 번째 생성자 `Student(String name)` 추가하기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③ `BankAccount`에 계좌 간 송금 메서드 만들기</a:t>
            </a:r>
          </a:p>
          <a:p>
            <a:pPr>
              <a:spcAft>
                <a:spcPts val="800"/>
              </a:spcAft>
              <a:defRPr sz="1200">
                <a:solidFill>
                  <a:srgbClr val="CADCFC"/>
                </a:solidFill>
                <a:latin typeface="Calibri"/>
              </a:defRPr>
            </a:pPr>
            <a:r>
              <a:t>④ 잘못된 입금/출금 시 구체적인 안내 문구 출력하기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65A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Georgia"/>
              </a:defRPr>
            </a:pPr>
            <a:r>
              <a:t>Week 03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클래스는 객체 설계도, new로 객체 생성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필드, 메서드, 생성자로 구성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생성자 오버로딩으로 유연한 초기화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this: 현재 인스턴스, this(): 다른 생성자</a:t>
            </a:r>
          </a:p>
          <a:p>
            <a:pPr>
              <a:spcAft>
                <a:spcPts val="1000"/>
              </a:spcAft>
              <a:defRPr sz="1600">
                <a:solidFill>
                  <a:srgbClr val="CADCFC"/>
                </a:solidFill>
                <a:latin typeface="Calibri"/>
              </a:defRPr>
            </a:pPr>
            <a:r>
              <a:t>• private/public으로 캡슐화 구현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