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EA5E9"/>
                </a:solidFill>
                <a:latin typeface="Georgia"/>
              </a:defRPr>
            </a:pPr>
            <a:r>
              <a:t>WEEK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Georgia"/>
              </a:defRPr>
            </a:pPr>
            <a:r>
              <a:t>객체지향 II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(Object-Oriented Programming Part II)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상속 (Inheritance)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extends로 기능 확장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상속의 개념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부모 클래스(Parent): 공통 기능을 정의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자식 클래스(Child): extends로 부모 상속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코드 재사용과 계층 구조 형성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super: 부모 클래스의 메서드/생성자 호출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1: Employee/Manager 상속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Employee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protected String name;  // protected: 자식에서 접근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protected double salary;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Employee(String name, double salary)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this.name = name;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this.salary = salary;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work()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System.out.println(name + "이 일합니다");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Manager extends Employee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int teamSize;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Manager(String name, double salary,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       int teamSize)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super(name, salary);  // 부모 생성자 호출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this.teamSize = teamSize;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@Override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work()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System.out.println(name +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"이 팀을 관리합니다");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protected: 자식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클래스에서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접근 가능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super(): 부모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생성자 호출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다형성 (Polymorphism)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같은 인터페이스, 다른 동작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다형성: 같은 메서드, 다른 동작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부모 타입 배열에 자식 객체 저장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Employee[] workers = new Employee[3];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workers[0] = new Employee("John", 3000);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workers[1] = new Manager("Alice", 5000, 5);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workers[2] = new Developer("Bob", 4000);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다형성: 같은 메서드 호출, 다른 동작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for (Employee worker : workers)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worker.work();  // 실제 객체 타입에 따라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출력: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John이 일합니다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Alice가 팀을 관리합니다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Bob이 코딩합니다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Employee[] 배열에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다양한 자식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객체 저장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65A82"/>
                </a:solidFill>
                <a:latin typeface="Georgia"/>
              </a:defRPr>
            </a:pPr>
            <a:r>
              <a:t>instanceof 연산자와 타입 체크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instanceof: 객체가 특정 클래스의 인스턴스인지 확인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- if (emp instanceof Manager)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다운캐스팅 전에 타입 검사 필수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• 상속 관계도 true 반환</a:t>
            </a:r>
          </a:p>
          <a:p>
            <a:pPr algn="l">
              <a:spcAft>
                <a:spcPts val="800"/>
              </a:spcAft>
              <a:defRPr sz="1600">
                <a:solidFill>
                  <a:srgbClr val="1E293B"/>
                </a:solidFill>
                <a:latin typeface="Calibri"/>
              </a:defRPr>
            </a:pPr>
            <a:r>
              <a:t>  - Dog dog = ...; dog instanceof Animal // true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Georgia"/>
              </a:defRPr>
            </a:pPr>
            <a:r>
              <a:t>인터페이스 (Interface)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CADCFC"/>
                </a:solidFill>
                <a:latin typeface="Calibri"/>
              </a:defRPr>
            </a:pPr>
            <a:r>
              <a:t>계약(Contract) 정의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예제 3: Interface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인터페이스 정의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interface Movable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void move(int x, int y);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interface Attackable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void attack(double damage);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여러 인터페이스 구현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Hero implements Movable, Attackable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double hp = 100;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@Override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move(int x, int y)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System.out.println(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"(" + x + ", " + y + ")로 이동");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@Override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attack(double damage)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hp -= damage;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System.out.println(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    "공격! 현재 HP: " + hp);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// 다형성 적용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Movable m = new Hero();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m.move(10, 20);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인터페이스는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계약/규칙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여러 인터페이스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동시 구현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65A82"/>
                </a:solidFill>
                <a:latin typeface="Georgia"/>
              </a:defRPr>
            </a:pPr>
            <a:r>
              <a:t>추상 클래스 (Abstract Class)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029200" cy="3657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47548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abstract class Animal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private String name;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Animal(String name)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this.name = name;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추상 메서드: 구현 없음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abstract void sound();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// 구체적 메서드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sleep()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System.out.println(name + " is sleeping");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public class Dog extends Animal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Dog(String name)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super(name);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@Override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public void sound() {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    System.out.println("Woof!");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    }</a:t>
            </a:r>
          </a:p>
          <a:p>
            <a:pPr algn="l">
              <a:spcAft>
                <a:spcPts val="100"/>
              </a:spcAft>
              <a:defRPr sz="1100">
                <a:solidFill>
                  <a:srgbClr val="E2E8F0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097280"/>
            <a:ext cx="3200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abstract class: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인스턴스 생성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불가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추상 메서드는</a:t>
            </a:r>
          </a:p>
          <a:p>
            <a:pPr algn="l">
              <a:spcAft>
                <a:spcPts val="600"/>
              </a:spcAft>
              <a:defRPr sz="1300">
                <a:solidFill>
                  <a:srgbClr val="475569"/>
                </a:solidFill>
                <a:latin typeface="Calibri"/>
              </a:defRPr>
            </a:pPr>
            <a:r>
              <a:t>반드시 구현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EA5E9"/>
                </a:solidFill>
                <a:latin typeface="Georgia"/>
              </a:defRPr>
            </a:pPr>
            <a:r>
              <a:t>실습 (Practice)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1. Animal(parent) 클래스 정의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Dog, Cat, Bird 자식 클래스 작성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sound() 메서드 오버라이드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2. Drawable 인터페이스 생성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   - Circle, Rectangle이 구현</a:t>
            </a:r>
          </a:p>
          <a:p>
            <a:pPr>
              <a:spcAft>
                <a:spcPts val="600"/>
              </a:spcAft>
              <a:defRPr sz="1500">
                <a:solidFill>
                  <a:srgbClr val="1E293B"/>
                </a:solidFill>
                <a:latin typeface="Calibri"/>
              </a:defRPr>
            </a:pPr>
            <a:r>
              <a:t>3. 다형성으로 배열 활용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javac Animal.java Dog.java Cat.java</a:t>
            </a:r>
          </a:p>
          <a:p>
            <a:pPr>
              <a:spcAft>
                <a:spcPts val="2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java AnimalTest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"/>
            <a:ext cx="1828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EA5E9"/>
                </a:solidFill>
                <a:latin typeface="Georgia"/>
              </a:defRPr>
            </a:pPr>
            <a:r>
              <a:t>QUIZ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13232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Week 04 — 다음 질문에 답해 보세요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15568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Q1. `super(name)`은 왜 필요한가? 없으면 어떻게 되는가?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Q2. `Employee manager = new Manager("Chris");`가 가능한 이유는 무엇인가?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Q3. `animal.sound()` 호출 시 어떤 클래스의 메서드가 실제로 실행되는가?</a:t>
            </a:r>
          </a:p>
          <a:p>
            <a:pPr>
              <a:spcAft>
                <a:spcPts val="10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Q4. 인터페이스와 상속은 각각 어떤 상황에서 유용한가?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115568"/>
            <a:ext cx="27432" cy="3474720"/>
          </a:xfrm>
          <a:prstGeom prst="rect">
            <a:avLst/>
          </a:prstGeom>
          <a:solidFill>
            <a:srgbClr val="3B52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80760" y="1115568"/>
            <a:ext cx="2834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Georgia"/>
              </a:defRPr>
            </a:pPr>
            <a:r>
              <a:t>추가 실습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499616"/>
            <a:ext cx="2834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① `Employee`에 `salary` 필드를 추가하고 출력에 반영하기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② `Animal`에 `name` 필드를 추가해 소리 출력 시 이름 포함하기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③ `Defendable` 인터페이스를 추가해 `Hero`, `Monster`에 구현하기</a:t>
            </a:r>
          </a:p>
          <a:p>
            <a:pPr>
              <a:spcAft>
                <a:spcPts val="800"/>
              </a:spcAft>
              <a:defRPr sz="1200">
                <a:solidFill>
                  <a:srgbClr val="CADCFC"/>
                </a:solidFill>
                <a:latin typeface="Calibri"/>
              </a:defRPr>
            </a:pPr>
            <a:r>
              <a:t>④ 부모 타입 배열로 여러 객체를 저장하고 공통 메서드 일괄 호출하기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Georgia"/>
              </a:defRPr>
            </a:pPr>
            <a:r>
              <a:t>Week 04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extends로 부모 클래스 상속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super로 부모 메서드/생성자 호출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메서드 오버라이딩으로 기능 재정의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다형성으로 같은 메서드 다른 동작</a:t>
            </a:r>
          </a:p>
          <a:p>
            <a:pPr>
              <a:spcAft>
                <a:spcPts val="1000"/>
              </a:spcAft>
              <a:defRPr sz="1600">
                <a:solidFill>
                  <a:srgbClr val="CADCFC"/>
                </a:solidFill>
                <a:latin typeface="Calibri"/>
              </a:defRPr>
            </a:pPr>
            <a:r>
              <a:t>• 인터페이스로 계약 정의, 다중 구현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