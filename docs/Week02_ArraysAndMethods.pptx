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EA5E9"/>
                </a:solidFill>
                <a:latin typeface="Georgia"/>
              </a:defRPr>
            </a:pPr>
            <a:r>
              <a:t>WEEK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배열과 메서드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CADCFC"/>
                </a:solidFill>
                <a:latin typeface="Calibri"/>
              </a:defRPr>
            </a:pPr>
            <a:r>
              <a:t>(Arrays &amp; Methods)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Georgia"/>
              </a:defRPr>
            </a:pPr>
            <a:r>
              <a:t>배열 (Arrays)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CADCFC"/>
                </a:solidFill>
                <a:latin typeface="Calibri"/>
              </a:defRPr>
            </a:pPr>
            <a:r>
              <a:t>선언, 초기화, 순회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5A82"/>
                </a:solidFill>
                <a:latin typeface="Georgia"/>
              </a:defRPr>
            </a:pPr>
            <a:r>
              <a:t>배열 개념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같은 타입의 여러 데이터를 하나의 변수에 저장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인덱스(Index)는 0부터 시작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고정 크기 - 생성 후 크기 변경 불가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배열의 길이: array.length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5A82"/>
                </a:solidFill>
                <a:latin typeface="Georgia"/>
              </a:defRPr>
            </a:pPr>
            <a:r>
              <a:t>예제 1: 배열 선언과 출력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029200" cy="3657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// 배열 선언 및 초기화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int[] scores = {90, 85, 95, 88, 92};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// 직접 출력 vs Arrays.toString()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System.out.println(scores);        // [I@1234 (메모리주소)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System.out.println(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Arrays.toString(scores));      // [90, 85, 95, 88, 92]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// Enhanced for loop (향상된 for 루프)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for (int score : scores)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System.out.println(score);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09728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Arrays.toString()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으로 배열 출력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enhanced for: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배열 원소 순회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Georgia"/>
              </a:defRPr>
            </a:pPr>
            <a:r>
              <a:t>메서드 (Methods)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CADCFC"/>
                </a:solidFill>
                <a:latin typeface="Calibri"/>
              </a:defRPr>
            </a:pPr>
            <a:r>
              <a:t>선언, 호출, 반환값, varargs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5A82"/>
                </a:solidFill>
                <a:latin typeface="Georgia"/>
              </a:defRPr>
            </a:pPr>
            <a:r>
              <a:t>메서드 기본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메서드: 특정 작업을 수행하는 코드 블록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재사용성과 모듈화 증대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반환값(return), 매개변수(parameter) 선택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메서드 오버로딩: 같은 이름, 다른 매개변수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5A82"/>
                </a:solidFill>
                <a:latin typeface="Georgia"/>
              </a:defRPr>
            </a:pPr>
            <a:r>
              <a:t>예제 2: Varargs 메서드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029200" cy="3657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// Varargs (가변 인자) 메서드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public static int sum(int... numbers)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int total = 0;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for (int num : numbers)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total += num;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return total;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// 호출 예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int result1 = sum(10, 20, 30);      // 60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int result2 = sum(5, 15);           // 20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int result3 = sum(100);             // 100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// ... 기호가 여러 개의 같은 타입 인자를 받음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09728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int... numbers는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가변 길이 배열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받음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5A82"/>
                </a:solidFill>
                <a:latin typeface="Georgia"/>
              </a:defRPr>
            </a:pPr>
            <a:r>
              <a:t>예제 3: Bubble Sort 구현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029200" cy="3657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// Bubble Sort 정렬 알고리즘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public static void bubbleSort(int[] arr)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int n = arr.length;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for (int i = 0; i &lt; n - 1; i++)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for (int j = 0; j &lt; n - i - 1; j++)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    if (arr[j] &gt; arr[j + 1])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        // 인접한 원소 교환 (Swap)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        int temp = arr[j];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        arr[j] = arr[j + 1];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        arr[j + 1] = temp;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    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09728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인접한 원소끼리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비교하여 교환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매번 끝에서부터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정렬됨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5A82"/>
                </a:solidFill>
                <a:latin typeface="Georgia"/>
              </a:defRPr>
            </a:pPr>
            <a:r>
              <a:t>2차원 배열 (2D Array)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int[][] matrix = new int[3][4]; // 3행 4열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int[][] arr = {{1,2}, {3,4}, {5,6}};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행렬 접근: arr[i][j] - i: 행, j: 열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중첩 for 루프로 순회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Arrays.deepToString()으로 2D 배열 출력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5A82"/>
                </a:solidFill>
                <a:latin typeface="Georgia"/>
              </a:defRPr>
            </a:pPr>
            <a:r>
              <a:t>메서드 오버로딩 (Overloading)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029200" cy="3657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// 같은 이름, 다른 매개변수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public static int sum(int a, int b)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return a + b;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public static double sum(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double a, double b)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return a + b;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public static int sum(int... numbers)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int total = 0;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for (int num : numbers) total += num;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return total;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// 호출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sum(10, 20);              // int 버전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sum(10.5, 20.3);          // double 버전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sum(5, 10, 15, 20);       // varargs 버전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09728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매개변수 개수,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타입, 순서로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메서드 구분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반환 타입은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영향 없음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EA5E9"/>
                </a:solidFill>
                <a:latin typeface="Georgia"/>
              </a:defRPr>
            </a:pPr>
            <a:r>
              <a:t>실습 (Practice)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1. 정수 배열의 최댓값을 찾는 메서드 작성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   public static int findMax(int[] arr)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2. 평균값을 계산하는 메서드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   public static double average(int... nums)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3. 배열을 오름차순으로 정렬 후 출력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566160"/>
            <a:ext cx="822960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  <a:latin typeface="Consolas"/>
              </a:defRPr>
            </a:pPr>
            <a:r>
              <a:t>$ javac ArrayMethods.java</a:t>
            </a:r>
          </a:p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  <a:latin typeface="Consolas"/>
              </a:defRPr>
            </a:pPr>
            <a:r>
              <a:t>$ java ArrayMethods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EA5E9"/>
                </a:solidFill>
                <a:latin typeface="Georgia"/>
              </a:defRPr>
            </a:pPr>
            <a:r>
              <a:t>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ADCFC"/>
                </a:solidFill>
                <a:latin typeface="Calibri"/>
              </a:defRPr>
            </a:pPr>
            <a:r>
              <a:t>Week 02 — 다음 질문에 답해 보세요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15568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Q1. `scores`를 그냥 출력했을 때 값 목록이 안 보이는 이유는 무엇인가?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Q2. `sum(int... numbers)`에서 `numbers`는 메서드 안에서 어떤 형태로 다뤄지는가?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Q3. `sortArray(data)` 호출 후 `data`가 바뀌는 이유는 무엇인가?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Q4. 버블 정렬에서 안쪽 반복문 범위가 `arr.length - i - 1`인 이유는 무엇인가?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115568"/>
            <a:ext cx="27432" cy="3474720"/>
          </a:xfrm>
          <a:prstGeom prst="rect">
            <a:avLst/>
          </a:prstGeom>
          <a:solidFill>
            <a:srgbClr val="3B5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80760" y="1115568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Georgia"/>
              </a:defRPr>
            </a:pPr>
            <a:r>
              <a:t>추가 실습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1499616"/>
            <a:ext cx="2834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CADCFC"/>
                </a:solidFill>
                <a:latin typeface="Calibri"/>
              </a:defRPr>
            </a:pPr>
            <a:r>
              <a:t>① ex01을 바꿔서 합계와 평균까지 함께 출력하기</a:t>
            </a:r>
          </a:p>
          <a:p>
            <a:pPr>
              <a:spcAft>
                <a:spcPts val="800"/>
              </a:spcAft>
              <a:defRPr sz="1200">
                <a:solidFill>
                  <a:srgbClr val="CADCFC"/>
                </a:solidFill>
                <a:latin typeface="Calibri"/>
              </a:defRPr>
            </a:pPr>
            <a:r>
              <a:t>② ex02에 `max(int... numbers)` 메서드 추가하기</a:t>
            </a:r>
          </a:p>
          <a:p>
            <a:pPr>
              <a:spcAft>
                <a:spcPts val="800"/>
              </a:spcAft>
              <a:defRPr sz="1200">
                <a:solidFill>
                  <a:srgbClr val="CADCFC"/>
                </a:solidFill>
                <a:latin typeface="Calibri"/>
              </a:defRPr>
            </a:pPr>
            <a:r>
              <a:t>③ ex03을 내림차순 정렬로 바꾸기</a:t>
            </a:r>
          </a:p>
          <a:p>
            <a:pPr>
              <a:spcAft>
                <a:spcPts val="800"/>
              </a:spcAft>
              <a:defRPr sz="1200">
                <a:solidFill>
                  <a:srgbClr val="CADCFC"/>
                </a:solidFill>
                <a:latin typeface="Calibri"/>
              </a:defRPr>
            </a:pPr>
            <a:r>
              <a:t>④ ex03에서 비교가 한 번도 일어나지 않으면 조기 종료하도록 개선하기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Georgia"/>
              </a:defRPr>
            </a:pPr>
            <a:r>
              <a:t>Week 02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CADCFC"/>
                </a:solidFill>
                <a:latin typeface="Calibri"/>
              </a:defRPr>
            </a:pPr>
            <a:r>
              <a:t>• 배열은 고정 크기의 같은 타입 데이터 집합</a:t>
            </a:r>
          </a:p>
          <a:p>
            <a:pPr>
              <a:spcAft>
                <a:spcPts val="1000"/>
              </a:spcAft>
              <a:defRPr sz="1600">
                <a:solidFill>
                  <a:srgbClr val="CADCFC"/>
                </a:solidFill>
                <a:latin typeface="Calibri"/>
              </a:defRPr>
            </a:pPr>
            <a:r>
              <a:t>• Arrays.toString()으로 배열 출력 가능</a:t>
            </a:r>
          </a:p>
          <a:p>
            <a:pPr>
              <a:spcAft>
                <a:spcPts val="1000"/>
              </a:spcAft>
              <a:defRPr sz="1600">
                <a:solidFill>
                  <a:srgbClr val="CADCFC"/>
                </a:solidFill>
                <a:latin typeface="Calibri"/>
              </a:defRPr>
            </a:pPr>
            <a:r>
              <a:t>• Enhanced for loop로 배열 순회 간편</a:t>
            </a:r>
          </a:p>
          <a:p>
            <a:pPr>
              <a:spcAft>
                <a:spcPts val="1000"/>
              </a:spcAft>
              <a:defRPr sz="1600">
                <a:solidFill>
                  <a:srgbClr val="CADCFC"/>
                </a:solidFill>
                <a:latin typeface="Calibri"/>
              </a:defRPr>
            </a:pPr>
            <a:r>
              <a:t>• 메서드로 코드 재사용성 높임</a:t>
            </a:r>
          </a:p>
          <a:p>
            <a:pPr>
              <a:spcAft>
                <a:spcPts val="1000"/>
              </a:spcAft>
              <a:defRPr sz="1600">
                <a:solidFill>
                  <a:srgbClr val="CADCFC"/>
                </a:solidFill>
                <a:latin typeface="Calibri"/>
              </a:defRPr>
            </a:pPr>
            <a:r>
              <a:t>• Varargs로 가변 길이 인자 처리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