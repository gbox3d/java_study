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88952" cy="91440"/>
          </a:xfrm>
          <a:prstGeom prst="rect">
            <a:avLst/>
          </a:prstGeom>
          <a:solidFill>
            <a:srgbClr val="CB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BA6FF"/>
                </a:solidFill>
              </a:rPr>
              <a:t>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객체지향 프로그래밍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BDBD"/>
                </a:solidFill>
              </a:rPr>
              <a:t>상속  ·  추상 클래스  ·  인터페이스  ·  다형성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B86C"/>
                </a:solidFill>
              </a:rPr>
              <a:t>RPG 캐릭터 &amp; 몬스터로 배우는 Java 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BA6FF"/>
                </a:solidFill>
              </a:rPr>
              <a:t>목  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210312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BA6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258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상속 (Inheritance)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DBDBD"/>
                </a:solidFill>
              </a:rPr>
              <a:t>Ex01 – Character / Warrior / Mage / Archer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577840" cy="210312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BA6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3258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추상 클래스 (Abstract)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DBDBD"/>
                </a:solidFill>
              </a:rPr>
              <a:t>Ex02 – Enemy / Slime / Dragon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577840" cy="210312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BA6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947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인터페이스 (Interface)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DBDBD"/>
                </a:solidFill>
              </a:rPr>
              <a:t>Ex03 – Movable / Attackable / Hero / Monster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5577840" cy="210312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39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BA6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7947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다형성 (Polymorphism)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DBDBD"/>
                </a:solidFill>
              </a:rPr>
              <a:t>세 예제를 관통하는 핵심 원리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BA6FF"/>
                </a:solidFill>
              </a:rPr>
              <a:t>01  상속 (Inheritance)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303520" cy="237744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</a:rPr>
              <a:t>핵심 개념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extends 키워드로 부모 클래스의 필드/메서드 물려받기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protected: 자식 클래스에서 직접 접근 가능한 접근 제어자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super(...): 부모 생성자를 호출하여 공통 초기화 위임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자식은 부모 기능을 재사용하면서 고유 속성 추가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822960"/>
            <a:ext cx="5943600" cy="274320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80760" y="914400"/>
            <a:ext cx="5669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public class Character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protected String name;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protected int hp;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Character(String name, int hp)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this.name = name;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this.hp   = hp;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void attack()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System.out.println(name + " 기본 공격");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5943600" cy="283464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5669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public class Warrior extends Character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private int rage;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Warrior(String name, int hp, int rage)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super(name, hp);  // 부모 생성자 호출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this.rage = rage;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void attack()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System.out.println(name + " 휠윈드!");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383280"/>
            <a:ext cx="5303520" cy="192024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520440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B86C"/>
                </a:solidFill>
              </a:rPr>
              <a:t>직업별 고유 자원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Warrior  →  rage  (분노 게이지)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Mage     →  mp    (마나)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Archer   →  arrows (화살 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BA6FF"/>
                </a:solidFill>
              </a:rPr>
              <a:t>다형성 (Polymorphism) – Ex01 실행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6400800" cy="274320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126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Character[] party =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new Warrior("타락한 전사",  1000, 50),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new Mage   ("안토니다스",    500, 300),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new Archer ("실바나스",      700, 30)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for (Character member : party)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member.attack();   // 각자 다른 공격이 나간다!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914400"/>
            <a:ext cx="4846320" cy="256032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051560"/>
            <a:ext cx="44805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</a:rPr>
              <a:t>핵심 포인트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배열 타입: 부모(Character) 하나로 통일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실제 객체: Warrior / Mage / Archer 각각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같은 attack() 호출 -&gt; 오버라이딩된 각자 구현 실행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실행 시점에 결정 = 동적 디스패치(Dynamic Dispatch)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실행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11247120" cy="146304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38912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타락한 전사이(가) 분노(50)를 담아 강력한 휠윈드 공격을 합니다!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안토니다스이(가) 마나(300)를 소모하여 거대한 파이어볼을 시전합니다!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실바나스이(가) 남은 화살(30개) 중 하나를 발사하여 치명타를 입힙니다!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BA6FF"/>
                </a:solidFill>
              </a:rPr>
              <a:t>02  추상 클래스 (Abstract Class)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303520" cy="256032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</a:rPr>
              <a:t>추상 클래스란?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abstract 키워드로 선언 — 인스턴스 생성 불가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일반 메서드(공통 동작) + 추상 메서드(강제 구현) 혼용 가능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new Enemy()  -&gt;  컴파일 에러! 구체적 클래스만 소환 가능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자식 클래스는 abstract 메서드를 반드시 Override 해야 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822960"/>
            <a:ext cx="5943600" cy="283464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80760" y="914400"/>
            <a:ext cx="5669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public abstract class Enemy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protected String name;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protected int hp;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// 일반 메서드: 공통 동작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void showStatus()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System.out.println(name + " HP:" + hp);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// 추상 메서드: 자식이 반드시 구현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abstract void attack();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abstract void takeDamage(int dmg);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5943600" cy="283464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5669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// Dragon: 방어력(armor)으로 피해 경감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public class Dragon extends Enemy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private int armor;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void takeDamage(int damage)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int actual = Math.max(0, damage - armor);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hp -= actual;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    System.out.println("비늘이 튕겨냄! 피해:" + actual);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public void attack() { ...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566160"/>
            <a:ext cx="5303520" cy="246888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703320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0FA7B"/>
                </a:solidFill>
              </a:rPr>
              <a:t>클래스 종류 비교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일반 클래스  -&gt; new 로 인스턴스 생성 가능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추상 클래스  -&gt; 인스턴스 직접 생성 불가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            (상속 전용 뼈대 역할)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인터페이스  -&gt; 구현부 없는 순수 규약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BA6FF"/>
                </a:solidFill>
              </a:rPr>
              <a:t>03  인터페이스 (Interface)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303520" cy="237744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</a:rPr>
              <a:t>인터페이스 특징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메서드 선언만 존재 — 구현부 없는 순수 규약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implements 키워드로 '다중' 구현 가능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클래스 상속은 단일 상속만 허용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'무엇을 할 수 있는가' 행동 계약 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822960"/>
            <a:ext cx="5943600" cy="310896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80760" y="914400"/>
            <a:ext cx="5669280" cy="2926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public interface Movable   { void move();  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public interface Attackable{ void attack();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// 용사: Movable + Attackable 동시 구현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public class Hero implements Movable, Attackable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 public void move()   { ...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 public void attack() { ...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public class Monster implements Movable, Attackable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 public void move()   { ...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@Override public void attack() { ... }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5303520" cy="292608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493775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8BE9FD"/>
                </a:solidFill>
              </a:rPr>
              <a:t>상속 vs 인터페이스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상속 (extends)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-&gt; IS-A 관계: 'Warrior는 Character다'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-&gt; 공통 코드 재사용이 주목적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인터페이스 (implements)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-&gt; CAN-DO 관계: 'Hero는 이동/공격 가능하다'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-&gt; 역할 중심 설계, 다중 역할 부여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4114800"/>
            <a:ext cx="5943600" cy="1737360"/>
          </a:xfrm>
          <a:prstGeom prst="rect">
            <a:avLst/>
          </a:prstGeom>
          <a:solidFill>
            <a:srgbClr val="28283A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4206240"/>
            <a:ext cx="5669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// 인터페이스 타입으로 다형성 활용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Movable[] units = { new Hero(), new Monster() };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for (Movable u : units) {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    u.move();   // 각자의 이동 방식으로!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BA6FF"/>
                </a:solidFill>
              </a:rPr>
              <a:t>핵심 개념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5577840" cy="246888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FFD700"/>
                </a:solidFill>
              </a:rPr>
              <a:t>상속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972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0FA7B"/>
                </a:solidFill>
                <a:latin typeface="Courier New"/>
              </a:rPr>
              <a:t>extends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부모 -&gt; 자식 코드 재사용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super()로 부모 생성자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IS-A 관계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960120"/>
            <a:ext cx="5577840" cy="246888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FFD700"/>
                </a:solidFill>
              </a:rPr>
              <a:t>오버라이딩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0972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0FA7B"/>
                </a:solidFill>
                <a:latin typeface="Courier New"/>
              </a:rPr>
              <a:t>@Override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부모 메서드를 자식이 재정의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실행 시 자식 버전 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다형성의 기반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246888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FFD700"/>
                </a:solidFill>
              </a:rPr>
              <a:t>추상 클래스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8404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0FA7B"/>
                </a:solidFill>
                <a:latin typeface="Courier New"/>
              </a:rPr>
              <a:t>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59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직접 인스턴스 생성 불가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79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추상 메서드 구현 강제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일반 메서드도 포함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03320"/>
            <a:ext cx="5577840" cy="246888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FFD700"/>
                </a:solidFill>
              </a:rPr>
              <a:t>인터페이스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8404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0FA7B"/>
                </a:solidFill>
                <a:latin typeface="Courier New"/>
              </a:rPr>
              <a:t>implements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80559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순수 규약만 정의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83479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다중 구현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864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CAN-DO 역할 설계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BA6FF"/>
                </a:solidFill>
              </a:rPr>
              <a:t>실습 체크리스트 &amp; 퀴즈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486400" cy="274320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D700"/>
                </a:solidFill>
              </a:rPr>
              <a:t>실습 체크리스트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[ ]  Ex01: Character 배열에서 attack() 호출 시 각자 다른 결과 확인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[ ]  Ex02: new Enemy() 직접 생성 시 컴파일 에러 직접 경험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[ ]  Ex02: Dragon의 armor 방어 감소 로직 분석 및 수정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[ ]  Ex03: 부모 클래스와 인터페이스의 차이 직접 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914400"/>
            <a:ext cx="5760720" cy="274320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3949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B86C"/>
                </a:solidFill>
              </a:rPr>
              <a:t>퀴즈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Q1. 자식 생성자에서 super()를 반드시 써야 하는 이유는?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Q2. Character member = new Warrior() 가 가능한 이유는?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Q3. abstract class와 일반 class의 차이 2가지는?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Q4. 다중 상속은 막히는데 인터페이스 다중 구현은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  허용되는 이유는 무엇이라 생각하는가?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1430000" cy="2377440"/>
          </a:xfrm>
          <a:prstGeom prst="rect">
            <a:avLst/>
          </a:prstGeom>
          <a:solidFill>
            <a:srgbClr val="2A2A3E"/>
          </a:solidFill>
          <a:ln>
            <a:solidFill>
              <a:srgbClr val="CB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776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0FA7B"/>
                </a:solidFill>
              </a:rPr>
              <a:t>추천 추가 실습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Thief(도적) 클래스 추가 — 은신 공격 구현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Ghost(유령) 몬스터 추가 — 일정 확률 피격 회피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Defendable 인터페이스 추가하고 Hero/Monster에 defend()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