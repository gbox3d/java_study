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A5E9"/>
                </a:solidFill>
                <a:latin typeface="Georgia"/>
              </a:defRPr>
            </a:pPr>
            <a:r>
              <a:t>WEEK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Georgia"/>
              </a:defRPr>
            </a:pPr>
            <a:r>
              <a:t>예외 처리 및 표준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(Exception Handling &amp; Standard API)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Georgia"/>
              </a:defRPr>
            </a:pPr>
            <a:r>
              <a:t>예외 처리 (Exception Handling)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try-catch-finally, 사용자 정의 예외, 날짜 검증과 계산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65A82"/>
                </a:solidFill>
                <a:latin typeface="Georgia"/>
              </a:defRPr>
            </a:pPr>
            <a:r>
              <a:t>예외(Exception)란?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프로그램 실행 중 발생하는 예기치 않은 상황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Checked Exception: 컴파일 시 처리 강제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Unchecked Exception: Runtime에 발생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예외 처리로 프로그램 안정성 확보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예제 1: try-catch-finally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static int divide(int a, int b) {</a:t>
            </a:r>
          </a:p>
          <a:p>
            <a:r>
              <a:t>    return a / b;</a:t>
            </a:r>
          </a:p>
          <a:p>
            <a:r>
              <a:t>}</a:t>
            </a:r>
          </a:p>
          <a:p/>
          <a:p>
            <a:r>
              <a:t>try {</a:t>
            </a:r>
          </a:p>
          <a:p>
            <a:r>
              <a:t>    System.out.println(divide(10, 0));</a:t>
            </a:r>
          </a:p>
          <a:p>
            <a:r>
              <a:t>} catch (ArithmeticException e) {</a:t>
            </a:r>
          </a:p>
          <a:p>
            <a:r>
              <a:t>    System.out.println("error: " + e.getMessage());</a:t>
            </a:r>
          </a:p>
          <a:p>
            <a:r>
              <a:t>} finally {</a:t>
            </a:r>
          </a:p>
          <a:p>
            <a:r>
              <a:t>    System.out.println("finally block executed");</a:t>
            </a:r>
          </a:p>
          <a:p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divide(): 0으로 나누면 예외 발생</a:t>
            </a:r>
          </a:p>
          <a:p>
            <a:r>
              <a:t>catch: 예외 메시지 출력</a:t>
            </a:r>
          </a:p>
          <a:p>
            <a:r>
              <a:t>finally: 예외와 무관하게 항상 실행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Georgia"/>
              </a:defRPr>
            </a:pPr>
            <a:r>
              <a:t>커스텀 예외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RuntimeException 상속하기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예제 2: 사용자 정의 예외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static class InvalidAgeException extends RuntimeException {</a:t>
            </a:r>
          </a:p>
          <a:p>
            <a:r>
              <a:t>    InvalidAgeException(String message) {</a:t>
            </a:r>
          </a:p>
          <a:p>
            <a:r>
              <a:t>        super(message);</a:t>
            </a:r>
          </a:p>
          <a:p>
            <a:r>
              <a:t>    }</a:t>
            </a:r>
          </a:p>
          <a:p>
            <a:r>
              <a:t>}</a:t>
            </a:r>
          </a:p>
          <a:p/>
          <a:p>
            <a:r>
              <a:t>static void checkAge(int age) {</a:t>
            </a:r>
          </a:p>
          <a:p>
            <a:r>
              <a:t>    if (age &lt; 0 || age &gt; 150) {</a:t>
            </a:r>
          </a:p>
          <a:p>
            <a:r>
              <a:t>        throw new InvalidAgeException("invalid age: " + age);</a:t>
            </a:r>
          </a:p>
          <a:p>
            <a:r>
              <a:t>    }</a:t>
            </a:r>
          </a:p>
          <a:p>
            <a:r>
              <a:t>}</a:t>
            </a:r>
          </a:p>
          <a:p/>
          <a:p>
            <a:r>
              <a:t>checkAge(25);   // 정상</a:t>
            </a:r>
          </a:p>
          <a:p>
            <a:r>
              <a:t>checkAge(-5);   // 예외 발생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Exception 상속으로 의미 있는 오류 표현</a:t>
            </a:r>
          </a:p>
          <a:p>
            <a:r>
              <a:t>throw로 예외 발생</a:t>
            </a:r>
          </a:p>
          <a:p>
            <a:r>
              <a:t>정상 입력과 비정상 입력 모두 테스트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throw와 사용자 정의 예외의 의미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throw는 프로그램이 직접 예외를 발생시키는 문법</a:t>
            </a:r>
          </a:p>
          <a:p>
            <a:r>
              <a:t>• catch는 발생한 예외를 받아 처리하는 블록</a:t>
            </a:r>
          </a:p>
          <a:p>
            <a:r>
              <a:t>• 사용자 정의 예외는 규칙 위반 상황을 더 명확하게 표현</a:t>
            </a:r>
          </a:p>
          <a:p>
            <a:r>
              <a:t>• 예: InvalidAgeException, InvalidScoreException</a:t>
            </a:r>
          </a:p>
          <a:p>
            <a:r>
              <a:t>• 단순 오류 메시지보다 프로그램 규칙을 코드로 드러낼 수 있음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Georgia"/>
              </a:defRPr>
            </a:pPr>
            <a:r>
              <a:t>날짜와 시간 (Date/Time API)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LocalDate, DateTimeFormatter, ChronoUnit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예제 3: 날짜 파싱과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static boolean isValidDate(String input) {</a:t>
            </a:r>
          </a:p>
          <a:p>
            <a:r>
              <a:t>    try {</a:t>
            </a:r>
          </a:p>
          <a:p>
            <a:r>
              <a:t>        LocalDate.parse(input, DateTimeFormatter.ISO_LOCAL_DATE);</a:t>
            </a:r>
          </a:p>
          <a:p>
            <a:r>
              <a:t>        return true;</a:t>
            </a:r>
          </a:p>
          <a:p>
            <a:r>
              <a:t>    } catch (DateTimeParseException e) {</a:t>
            </a:r>
          </a:p>
          <a:p>
            <a:r>
              <a:t>        return false;</a:t>
            </a:r>
          </a:p>
          <a:p>
            <a:r>
              <a:t>    }</a:t>
            </a:r>
          </a:p>
          <a:p>
            <a:r>
              <a:t>}</a:t>
            </a:r>
          </a:p>
          <a:p/>
          <a:p>
            <a:r>
              <a:t>System.out.println("2026-02-22 valid? " + isValidDate("2026-02-22"));</a:t>
            </a:r>
          </a:p>
          <a:p>
            <a:r>
              <a:t>System.out.println("2026-02-30 valid? " + isValidDate("2026-02-30"));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parse() 성공: true</a:t>
            </a:r>
          </a:p>
          <a:p>
            <a:r>
              <a:t>존재하지 않는 날짜면 예외 발생</a:t>
            </a:r>
          </a:p>
          <a:p>
            <a:r>
              <a:t>예외를 boolean 검증 결과로 변환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예제 4: 날짜 계산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LocalDate today = LocalDate.of(2026, 2, 22);</a:t>
            </a:r>
          </a:p>
          <a:p>
            <a:r>
              <a:t>LocalDate eventDate = LocalDate.of(2026, 3, 15);</a:t>
            </a:r>
          </a:p>
          <a:p/>
          <a:p>
            <a:r>
              <a:t>LocalDate after10Days = today.plusDays(10);</a:t>
            </a:r>
          </a:p>
          <a:p>
            <a:r>
              <a:t>LocalDate after1Month = today.plusMonths(1);</a:t>
            </a:r>
          </a:p>
          <a:p>
            <a:r>
              <a:t>long daysBetween = ChronoUnit.DAYS.between(today, after1Month);</a:t>
            </a:r>
          </a:p>
          <a:p>
            <a:r>
              <a:t>long daysUntilEvent = ChronoUnit.DAYS.between(today, eventDate);</a:t>
            </a:r>
          </a:p>
          <a:p/>
          <a:p>
            <a:r>
              <a:t>System.out.println(after10Days);</a:t>
            </a:r>
          </a:p>
          <a:p>
            <a:r>
              <a:t>System.out.println(after1Month);</a:t>
            </a:r>
          </a:p>
          <a:p>
            <a:r>
              <a:t>System.out.println(daysUntilEvent);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plusDays(): 며칠 뒤 날짜</a:t>
            </a:r>
          </a:p>
          <a:p>
            <a:r>
              <a:t>plusMonths(): 몇 달 뒤 날짜</a:t>
            </a:r>
          </a:p>
          <a:p>
            <a:r>
              <a:t>ChronoUnit.DAYS.between(): 날짜 차이 계산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핵심 패턴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1. try-catch-finally로 비정상 상황 제어</a:t>
            </a:r>
          </a:p>
          <a:p>
            <a:r>
              <a:t>2. 사용자 정의 예외로 규칙 위반 표현</a:t>
            </a:r>
          </a:p>
          <a:p>
            <a:r>
              <a:t>3. LocalDate.parse()로 날짜 검증</a:t>
            </a:r>
          </a:p>
          <a:p>
            <a:r>
              <a:t>4. plusDays(), plusMonths()로 날짜 계산</a:t>
            </a:r>
          </a:p>
          <a:p>
            <a:r>
              <a:t>5. ChronoUnit으로 두 날짜 차이 계산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예외 처리: 복구와 안내</a:t>
            </a:r>
          </a:p>
          <a:p>
            <a:r>
              <a:t>표준 API: 안전한 날짜 처리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EA5E9"/>
                </a:solidFill>
                <a:latin typeface="Georgia"/>
              </a:defRPr>
            </a:pPr>
            <a:r>
              <a:t>실습 (Practice)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1. divide()에서 0 나누기 전에 직접 검사하기</a:t>
            </a:r>
          </a:p>
          <a:p>
            <a:r>
              <a:t>2. InvalidScoreException 클래스 만들기</a:t>
            </a:r>
          </a:p>
          <a:p>
            <a:r>
              <a:t>3. 날짜 문자열을 yyyy/MM/dd 형식으로 바꿔 보기</a:t>
            </a:r>
          </a:p>
          <a:p>
            <a:r>
              <a:t>4. 특정 생일까지 남은 날짜 계산하기</a:t>
            </a:r>
          </a:p>
          <a:p>
            <a:r>
              <a:t>5. 시험일까지 남은 일 수 또는 주 수 계산하기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$ javac -d out/classes app/chapter05/*.java</a:t>
            </a:r>
          </a:p>
          <a:p>
            <a:r>
              <a:t>$ java -cp out/classes chapter05.ex04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EA5E9"/>
                </a:solidFill>
                <a:latin typeface="Georgia"/>
              </a:defRPr>
            </a:pPr>
            <a:r>
              <a:t>QUIZ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ADCFC"/>
                </a:solidFill>
                <a:latin typeface="Calibri"/>
              </a:defRPr>
            </a:pPr>
            <a:r>
              <a:t>Week 05 — 다음 질문에 답해 보세요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Q1. finally는 언제 실행되는가?</a:t>
            </a:r>
          </a:p>
          <a:p>
            <a:r>
              <a:t>Q2. throw와 catch의 역할 차이는 무엇인가?</a:t>
            </a:r>
          </a:p>
          <a:p>
            <a:r>
              <a:t>Q3. 사용자 정의 예외를 왜 만드는가?</a:t>
            </a:r>
          </a:p>
          <a:p>
            <a:r>
              <a:t>Q4. 2026-02-30이 잘못된 날짜인 이유는?</a:t>
            </a:r>
          </a:p>
          <a:p>
            <a:r>
              <a:t>Q5. plusDays(10)과 plusMonths(1)은 언제 유용한가?</a:t>
            </a:r>
          </a:p>
          <a:p>
            <a:r>
              <a:t>Q6. ChronoUnit.DAYS.between()은 왜 사용하는가?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115568"/>
            <a:ext cx="27432" cy="3474720"/>
          </a:xfrm>
          <a:prstGeom prst="rect">
            <a:avLst/>
          </a:prstGeom>
          <a:solidFill>
            <a:srgbClr val="3B5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115568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EA5E9"/>
                </a:solidFill>
                <a:latin typeface="Georgia"/>
              </a:defRPr>
            </a:pPr>
            <a:r>
              <a:t>추가 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499616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① divide() 방어 코드 작성하기</a:t>
            </a:r>
          </a:p>
          <a:p>
            <a:r>
              <a:t>② InvalidScoreException 추가하기</a:t>
            </a:r>
          </a:p>
          <a:p>
            <a:r>
              <a:t>③ yyyy/MM/dd 형식 파싱 시도</a:t>
            </a:r>
          </a:p>
          <a:p>
            <a:r>
              <a:t>④ 생일까지 남은 날짜 계산</a:t>
            </a:r>
          </a:p>
          <a:p>
            <a:r>
              <a:t>⑤ 시험일까지 남은 주 수 계산</a:t>
            </a:r>
          </a:p>
          <a:p>
            <a:r>
              <a:t>⑥ 예외 메시지를 더 친화적으로 바꾸기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Georgia"/>
              </a:defRPr>
            </a:pPr>
            <a:r>
              <a:t>Week 05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try-catch-finally로 예외 흐름 제어</a:t>
            </a:r>
          </a:p>
          <a:p>
            <a:r>
              <a:t>• RuntimeException 상속으로 사용자 정의 예외 작성</a:t>
            </a:r>
          </a:p>
          <a:p>
            <a:r>
              <a:t>• throw로 예외 발생, catch로 처리</a:t>
            </a:r>
          </a:p>
          <a:p>
            <a:r>
              <a:t>• LocalDate.parse()로 날짜 검증</a:t>
            </a:r>
          </a:p>
          <a:p>
            <a:r>
              <a:t>• plusDays, plusMonths, ChronoUnit으로 날짜 계산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