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EA5E9"/>
                </a:solidFill>
                <a:latin typeface="Georgia"/>
              </a:defRPr>
            </a:pPr>
            <a:r>
              <a:t>WEEK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Georgia"/>
              </a:defRPr>
            </a:pPr>
            <a:r>
              <a:t>컬렉션 프레임워크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175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CADCFC"/>
                </a:solidFill>
                <a:latin typeface="Calibri"/>
              </a:defRPr>
            </a:pPr>
            <a:r>
              <a:t>(Collection Framework)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Georgia"/>
              </a:defRPr>
            </a:pPr>
            <a:r>
              <a:t>컬렉션 프레임워크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List와 Map의 핵심 차이와 게임 데이터 관리 예제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65A82"/>
                </a:solidFill>
                <a:latin typeface="Georgia"/>
              </a:defRPr>
            </a:pPr>
            <a:r>
              <a:t>List / Set / Map 비교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List (리스트): 순서 있음, 중복 허용, 인덱스 접근 가능</a:t>
            </a:r>
          </a:p>
          <a:p>
            <a:r>
              <a:t>  • 파티 편성, 인벤토리 슬롯, 대기열 관리에 적합</a:t>
            </a:r>
          </a:p>
          <a:p>
            <a:r>
              <a:t>Set (집합): 중복 없음, 유일한 값 저장</a:t>
            </a:r>
          </a:p>
          <a:p>
            <a:r>
              <a:t>  • 중복 제거, 방문 체크 같은 상황에 적합</a:t>
            </a:r>
          </a:p>
          <a:p>
            <a:r>
              <a:t>Map (맵): 키-값 쌍, 키로 빠른 조회 가능</a:t>
            </a:r>
          </a:p>
          <a:p>
            <a:r>
              <a:t>  • 아이템 코드, 사용자 ID, 설정값 관리에 적합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65A82"/>
                </a:solidFill>
                <a:latin typeface="Georgia"/>
              </a:defRPr>
            </a:pPr>
            <a:r>
              <a:t>제네릭스 (Generics) 복습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타입 안정성: 컴파일 시점에 저장 가능한 타입 검사</a:t>
            </a:r>
          </a:p>
          <a:p>
            <a:r>
              <a:t>List&lt;GameCharacter&gt; party = new ArrayList&lt;&gt;();</a:t>
            </a:r>
          </a:p>
          <a:p>
            <a:r>
              <a:t>Map&lt;String, ItemSpec&gt; itemTable = new HashMap&lt;&gt;();</a:t>
            </a:r>
          </a:p>
          <a:p>
            <a:r>
              <a:t>제네릭을 쓰면 잘못된 타입 저장을 막고</a:t>
            </a:r>
          </a:p>
          <a:p>
            <a:r>
              <a:t>형변환 없이 안전하게 값을 꺼낼 수 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예제 1 - List 기반 파티 캐릭터 관리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5029200" cy="3657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4754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PartyManager partyManager = new PartyManager();</a:t>
            </a:r>
          </a:p>
          <a:p>
            <a:r>
              <a:t>partyManager.addCharacter(new GameCharacter("warrior_01", "브론", "전사", 12, 180));</a:t>
            </a:r>
          </a:p>
          <a:p>
            <a:r>
              <a:t>partyManager.addCharacter(new GameCharacter("mage_01", "세리아", "마법사", 18, 90));</a:t>
            </a:r>
          </a:p>
          <a:p>
            <a:r>
              <a:t>partyManager.insertCharacter(1,</a:t>
            </a:r>
          </a:p>
          <a:p>
            <a:r>
              <a:t>        new GameCharacter("priest_01", "리아", "사제", 14, 100));</a:t>
            </a:r>
          </a:p>
          <a:p>
            <a:r>
              <a:t>partyManager.removeByIndex(2);</a:t>
            </a:r>
          </a:p>
          <a:p>
            <a:r>
              <a:t>partyManager.removeByName("브론");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0" y="109728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add: 파티 끝에 영입</a:t>
            </a:r>
          </a:p>
          <a:p>
            <a:r>
              <a:t>insertCharacter: 원하는 슬롯에 삽입</a:t>
            </a:r>
          </a:p>
          <a:p>
            <a:r>
              <a:t>remove: 인덱스 또는 이름으로 제거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예제 2 - Map 기반 아이템 명세 관리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5029200" cy="3657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4754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ItemManager itemManager = new ItemManager();</a:t>
            </a:r>
          </a:p>
          <a:p>
            <a:r>
              <a:t>itemManager.addItem(new ItemSpec("sword_001", "초보자 검", "Common", 100, 5, true));</a:t>
            </a:r>
          </a:p>
          <a:p>
            <a:r>
              <a:t>itemManager.addItem(new ItemSpec("staff_001", "견습 마법봉", "Rare", 300, 8, true));</a:t>
            </a:r>
          </a:p>
          <a:p/>
          <a:p>
            <a:r>
              <a:t>System.out.println(itemManager.getItem("staff_001"));</a:t>
            </a:r>
          </a:p>
          <a:p>
            <a:r>
              <a:t>itemManager.updatePrice("sword_001", 150);</a:t>
            </a:r>
          </a:p>
          <a:p>
            <a:r>
              <a:t>itemManager.removeItem("armor_001");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0" y="109728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put 성격의 addItem으로 등록</a:t>
            </a:r>
          </a:p>
          <a:p>
            <a:r>
              <a:t>getItem으로 코드 기반 조회</a:t>
            </a:r>
          </a:p>
          <a:p>
            <a:r>
              <a:t>update/remove로 데이터 갱신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List와 Map 선택 기준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5029200" cy="3657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4754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List를 써야 하는 경우</a:t>
            </a:r>
          </a:p>
          <a:p>
            <a:r>
              <a:t>• 순서가 중요할 때</a:t>
            </a:r>
          </a:p>
          <a:p>
            <a:r>
              <a:t>• 몇 번째 슬롯인지가 중요할 때</a:t>
            </a:r>
          </a:p>
          <a:p>
            <a:r>
              <a:t>• 중간 삽입과 삭제가 필요할 때</a:t>
            </a:r>
          </a:p>
          <a:p/>
          <a:p>
            <a:r>
              <a:t>Map을 써야 하는 경우</a:t>
            </a:r>
          </a:p>
          <a:p>
            <a:r>
              <a:t>• 코드나 이름표로 바로 찾고 싶을 때</a:t>
            </a:r>
          </a:p>
          <a:p>
            <a:r>
              <a:t>• 키와 값이 짝을 이루는 데이터일 때</a:t>
            </a:r>
          </a:p>
          <a:p>
            <a:r>
              <a:t>• 조회 속도가 중요한 관리 테이블일 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0" y="109728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List: 순서 중심</a:t>
            </a:r>
          </a:p>
          <a:p>
            <a:r>
              <a:t>Map: 검색 중심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반복과 출력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List 순회: for (int i = 0; i &lt; party.size(); i++)</a:t>
            </a:r>
          </a:p>
          <a:p>
            <a:r>
              <a:t>Map 순회: for (Map.Entry&lt;String, ItemSpec&gt; entry : itemTable.entrySet())</a:t>
            </a:r>
          </a:p>
          <a:p/>
          <a:p>
            <a:r>
              <a:t>컬렉션은 저장만 하는 것이 아니라</a:t>
            </a:r>
          </a:p>
          <a:p>
            <a:r>
              <a:t>반복하면서 전체 상태를 출력하거나</a:t>
            </a:r>
          </a:p>
          <a:p>
            <a:r>
              <a:t>조건에 맞는 데이터를 찾아 처리하는 데 자주 사용된다.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실습 1: 파티 캐릭터 관리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ArrayList 또는 List&lt;GameCharacter&gt;를 사용해 파티를 구성하시오.</a:t>
            </a:r>
          </a:p>
          <a:p>
            <a:r>
              <a:t>1. 캐릭터 3명을 추가한다.</a:t>
            </a:r>
          </a:p>
          <a:p>
            <a:r>
              <a:t>2. 1번 슬롯에 새 캐릭터를 삽입한다.</a:t>
            </a:r>
          </a:p>
          <a:p>
            <a:r>
              <a:t>3. 특정 이름의 캐릭터 1명을 제거한다.</a:t>
            </a:r>
          </a:p>
          <a:p>
            <a:r>
              <a:t>4. 최종 파티 상태를 출력한다.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566160"/>
            <a:ext cx="822960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65760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java -cp out/classes chapter06.ex01.Ex01</a:t>
            </a:r>
          </a:p>
          <a:p>
            <a:r>
              <a:t># 파티 슬롯 변화 확인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실습 2: 아이템 명세 관리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Map&lt;String, ItemSpec&gt; 또는 HashMap을 사용해 아이템 테이블을 작성하시오.</a:t>
            </a:r>
          </a:p>
          <a:p>
            <a:r>
              <a:t>1. 아이템 코드와 명세를 3개 이상 등록한다.</a:t>
            </a:r>
          </a:p>
          <a:p>
            <a:r>
              <a:t>2. 특정 코드로 아이템을 조회한다.</a:t>
            </a:r>
          </a:p>
          <a:p>
            <a:r>
              <a:t>3. 가격 수정 또는 판매 중지 처리를 한다.</a:t>
            </a:r>
          </a:p>
          <a:p>
            <a:r>
              <a:t>4. 최종 전체 데이터를 출력한다.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566160"/>
            <a:ext cx="822960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65760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java -cp out/classes chapter06.ex02.Ex02</a:t>
            </a:r>
          </a:p>
          <a:p>
            <a:r>
              <a:t># 코드 기반 조회 확인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828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EA5E9"/>
                </a:solidFill>
                <a:latin typeface="Georgia"/>
              </a:defRPr>
            </a:pPr>
            <a:r>
              <a:t>QUIZ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ADCFC"/>
                </a:solidFill>
                <a:latin typeface="Calibri"/>
              </a:defRPr>
            </a:pPr>
            <a:r>
              <a:t>Week 06 — 다음 질문에 답해 보세요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15568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Q1. List&lt;String&gt;에서 String은 어떤 역할을 하는가?</a:t>
            </a:r>
          </a:p>
          <a:p>
            <a:r>
              <a:t>Q2. List에서 중간 삽입이나 삭제를 하면 무엇이 바뀌는가?</a:t>
            </a:r>
          </a:p>
          <a:p>
            <a:r>
              <a:t>Q3. Map에서 키와 값은 각각 어떤 용도로 쓰이는가?</a:t>
            </a:r>
          </a:p>
          <a:p>
            <a:r>
              <a:t>Q4. 게임 파티 관리는 왜 List가 더 적합한가?</a:t>
            </a:r>
          </a:p>
          <a:p>
            <a:r>
              <a:t>Q5. 아이템 명세 관리는 왜 Map이 더 적합한가?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115568"/>
            <a:ext cx="27432" cy="3474720"/>
          </a:xfrm>
          <a:prstGeom prst="rect">
            <a:avLst/>
          </a:prstGeom>
          <a:solidFill>
            <a:srgbClr val="3B5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80760" y="1115568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EA5E9"/>
                </a:solidFill>
                <a:latin typeface="Georgia"/>
              </a:defRPr>
            </a:pPr>
            <a:r>
              <a:t>추가 실습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0760" y="1499616"/>
            <a:ext cx="28346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① List&lt;Integer&gt;로 점수 목록 관리하기</a:t>
            </a:r>
          </a:p>
          <a:p>
            <a:r>
              <a:t>② Map&lt;String, Integer&gt;로 과목별 점수 저장하기</a:t>
            </a:r>
          </a:p>
          <a:p>
            <a:r>
              <a:t>③ 파티 캐릭터 평균 레벨 구하기</a:t>
            </a:r>
          </a:p>
          <a:p>
            <a:r>
              <a:t>④ 가장 비싼 아이템 찾기</a:t>
            </a:r>
          </a:p>
          <a:p>
            <a:r>
              <a:t>⑤ 특정 등급 아이템만 출력하기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Georgia"/>
              </a:defRPr>
            </a:pPr>
            <a:r>
              <a:t>Week 06 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List: 순서 기반 데이터 관리에 적합</a:t>
            </a:r>
          </a:p>
          <a:p>
            <a:r>
              <a:t>Map: 키 기반 조회에 적합</a:t>
            </a:r>
          </a:p>
          <a:p>
            <a:r>
              <a:t>제네릭으로 타입을 명확히 하면 안전성이 높아진다.</a:t>
            </a:r>
          </a:p>
          <a:p>
            <a:r>
              <a:t>게임 예제로 보면 파티 관리는 List, 아이템 명세는 Map이 자연스럽다.</a:t>
            </a:r>
          </a:p>
          <a:p>
            <a:r>
              <a:t>컬렉션은 실제 프로그램의 데이터를 구조적으로 다루는 핵심 도구다.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